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849563303_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g3b849563303_2_8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8495633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b8495633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b51f2ef2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bb51f2ef2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bb51f2ef2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bb51f2ef2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bb572705a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bb572705a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bb572705a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bb572705a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b572705a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b572705a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b60fb68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b60fb68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 type="title">
  <p:cSld name="TITLE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362693" y="273844"/>
            <a:ext cx="7152657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1362693" y="1369219"/>
            <a:ext cx="7152656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 rotWithShape="1">
          <a:blip r:embed="rId2">
            <a:alphaModFix/>
          </a:blip>
          <a:srcRect b="0" l="0" r="85401" t="0"/>
          <a:stretch/>
        </p:blipFill>
        <p:spPr>
          <a:xfrm>
            <a:off x="4667" y="0"/>
            <a:ext cx="133445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4" y="4330223"/>
            <a:ext cx="3287553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062436" y="-1"/>
            <a:ext cx="9063436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77105" y="4601905"/>
            <a:ext cx="4275191" cy="57612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>
            <p:ph idx="1" type="subTitle"/>
          </p:nvPr>
        </p:nvSpPr>
        <p:spPr>
          <a:xfrm>
            <a:off x="2378034" y="2701528"/>
            <a:ext cx="3268981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6"/>
          <p:cNvSpPr txBox="1"/>
          <p:nvPr/>
        </p:nvSpPr>
        <p:spPr>
          <a:xfrm>
            <a:off x="2467100" y="1329928"/>
            <a:ext cx="3487932" cy="124182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i="0" lang="en" sz="3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Click to edit Master subtitle style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35974" y="1282304"/>
            <a:ext cx="7174613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1335973" y="3421856"/>
            <a:ext cx="718414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49" y="0"/>
            <a:ext cx="1335024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42874" y="0"/>
            <a:ext cx="3287553" cy="914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2027952" y="273844"/>
            <a:ext cx="6487398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1102918" y="1369219"/>
            <a:ext cx="3527714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1" name="Google Shape;91;p18"/>
          <p:cNvSpPr txBox="1"/>
          <p:nvPr>
            <p:ph idx="2" type="body"/>
          </p:nvPr>
        </p:nvSpPr>
        <p:spPr>
          <a:xfrm>
            <a:off x="4987637" y="1369219"/>
            <a:ext cx="3527713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1379472" y="273844"/>
            <a:ext cx="7137069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1157840" y="1260872"/>
            <a:ext cx="3500654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9" name="Google Shape;99;p19"/>
          <p:cNvSpPr txBox="1"/>
          <p:nvPr>
            <p:ph idx="2" type="body"/>
          </p:nvPr>
        </p:nvSpPr>
        <p:spPr>
          <a:xfrm>
            <a:off x="1157840" y="1878806"/>
            <a:ext cx="3500654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0" name="Google Shape;100;p19"/>
          <p:cNvSpPr txBox="1"/>
          <p:nvPr>
            <p:ph idx="3" type="body"/>
          </p:nvPr>
        </p:nvSpPr>
        <p:spPr>
          <a:xfrm>
            <a:off x="4998647" y="1260872"/>
            <a:ext cx="3517895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01" name="Google Shape;101;p19"/>
          <p:cNvSpPr txBox="1"/>
          <p:nvPr>
            <p:ph idx="4" type="body"/>
          </p:nvPr>
        </p:nvSpPr>
        <p:spPr>
          <a:xfrm>
            <a:off x="4998647" y="1878806"/>
            <a:ext cx="3517895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05" name="Google Shape;105;p1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20071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1335024" y="273844"/>
            <a:ext cx="7180326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1" name="Google Shape;111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6" name="Google Shape;116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1351267" y="34409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4479966" y="740569"/>
            <a:ext cx="4036575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20" name="Google Shape;120;p22"/>
          <p:cNvSpPr txBox="1"/>
          <p:nvPr>
            <p:ph idx="2" type="body"/>
          </p:nvPr>
        </p:nvSpPr>
        <p:spPr>
          <a:xfrm>
            <a:off x="1351267" y="154424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1" name="Google Shape;121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4" name="Google Shape;124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121146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7" name="Google Shape;127;p23"/>
          <p:cNvSpPr/>
          <p:nvPr>
            <p:ph idx="2" type="pic"/>
          </p:nvPr>
        </p:nvSpPr>
        <p:spPr>
          <a:xfrm>
            <a:off x="4417621" y="740569"/>
            <a:ext cx="4098920" cy="3661172"/>
          </a:xfrm>
          <a:prstGeom prst="rect">
            <a:avLst/>
          </a:prstGeom>
          <a:noFill/>
          <a:ln>
            <a:noFill/>
          </a:ln>
        </p:spPr>
      </p:sp>
      <p:sp>
        <p:nvSpPr>
          <p:cNvPr id="128" name="Google Shape;128;p23"/>
          <p:cNvSpPr txBox="1"/>
          <p:nvPr>
            <p:ph idx="1" type="body"/>
          </p:nvPr>
        </p:nvSpPr>
        <p:spPr>
          <a:xfrm>
            <a:off x="121146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29" name="Google Shape;129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2" name="Google Shape;132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2352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229096" y="273844"/>
            <a:ext cx="7286254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104405" y="1385888"/>
            <a:ext cx="7410945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335024" cy="51435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4"/>
          <p:cNvSpPr txBox="1"/>
          <p:nvPr>
            <p:ph type="ctrTitle"/>
          </p:nvPr>
        </p:nvSpPr>
        <p:spPr>
          <a:xfrm>
            <a:off x="1143000" y="841772"/>
            <a:ext cx="6858000" cy="220866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/>
              <a:t>QORVO_RADIO2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</a:pPr>
            <a:r>
              <a:rPr lang="en"/>
              <a:t>1/23/2026 Meeting</a:t>
            </a:r>
            <a:endParaRPr/>
          </a:p>
        </p:txBody>
      </p:sp>
      <p:pic>
        <p:nvPicPr>
          <p:cNvPr id="138" name="Google Shape;1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24900" y="4724400"/>
            <a:ext cx="304800" cy="30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144" name="Google Shape;144;p25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PCB Part Orders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Stretch Goals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Mesh Network Testing &amp; Implementation Plan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Design Review Dates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6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PCB Part Orders</a:t>
            </a:r>
            <a:endParaRPr/>
          </a:p>
        </p:txBody>
      </p:sp>
      <p:sp>
        <p:nvSpPr>
          <p:cNvPr id="150" name="Google Shape;150;p26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PCB in Fab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 Expected delivery January 30th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Stencil ordered from </a:t>
            </a:r>
            <a:r>
              <a:rPr lang="en"/>
              <a:t>OSHPark</a:t>
            </a:r>
            <a:r>
              <a:rPr lang="en"/>
              <a:t> Stencil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Expected delivery January 26th - 30th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Stretch Goals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Researched</a:t>
            </a:r>
            <a:r>
              <a:rPr lang="en"/>
              <a:t> QORVO_RADIO projects issues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Identified main issue with LO and I/O Expander communication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Found 2 possible hardware solutions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Eliminate</a:t>
            </a:r>
            <a:r>
              <a:rPr lang="en"/>
              <a:t> I/O expander and utilize pMOD GPIO lines from FPGA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Find alternative IC solutions for LO and/or I/O Expander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Further testing can be completed on the software side to validate enable signals.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Looked over past </a:t>
            </a:r>
            <a:r>
              <a:rPr lang="en"/>
              <a:t>project components datasheets</a:t>
            </a:r>
            <a:r>
              <a:rPr lang="en"/>
              <a:t> to see what could be added to current project 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Mesh Network Testing &amp; Implementation Plan</a:t>
            </a:r>
            <a:endParaRPr/>
          </a:p>
        </p:txBody>
      </p:sp>
      <p:sp>
        <p:nvSpPr>
          <p:cNvPr id="162" name="Google Shape;162;p28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Created a plan for </a:t>
            </a:r>
            <a:r>
              <a:rPr lang="en"/>
              <a:t>implementing</a:t>
            </a:r>
            <a:r>
              <a:rPr lang="en"/>
              <a:t> and testing the mesh network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Phases: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1: Basic Board-to-Board Communication (UART &amp; BLE)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2: Zigbee Mesh Network Testing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3: Thread Network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4: Gateway Integration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5: Full System Integration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Phase 1: Progress: Basic Communication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UART Communication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Verified connection between Boards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BLE Firmware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Developed firmware for BLE communication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Board 1 Configured as the sender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Board 2 Configured as the Scanner/Client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BLE Validation</a:t>
            </a:r>
            <a:endParaRPr/>
          </a:p>
        </p:txBody>
      </p:sp>
      <p:sp>
        <p:nvSpPr>
          <p:cNvPr id="174" name="Google Shape;174;p30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Upcoming</a:t>
            </a:r>
            <a:r>
              <a:rPr lang="en"/>
              <a:t> testing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Validate direct wireless communication without the gateway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Testing Procedures: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Verify Board 2 can discover and connect to Board 1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Test GATT command for Motion Sensor and LED Control 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1"/>
          <p:cNvSpPr txBox="1"/>
          <p:nvPr>
            <p:ph type="title"/>
          </p:nvPr>
        </p:nvSpPr>
        <p:spPr>
          <a:xfrm>
            <a:off x="1362693" y="273844"/>
            <a:ext cx="7152600" cy="9942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Design Review Dates</a:t>
            </a:r>
            <a:endParaRPr/>
          </a:p>
        </p:txBody>
      </p:sp>
      <p:sp>
        <p:nvSpPr>
          <p:cNvPr id="180" name="Google Shape;180;p31"/>
          <p:cNvSpPr txBox="1"/>
          <p:nvPr>
            <p:ph idx="1" type="body"/>
          </p:nvPr>
        </p:nvSpPr>
        <p:spPr>
          <a:xfrm>
            <a:off x="1362693" y="1369219"/>
            <a:ext cx="7152600" cy="3263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PSR (Prototype Status Review)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February 20, 2026 9:00AM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Location: UNCC</a:t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PRP (Prototype Review Presentation)</a:t>
            </a:r>
            <a:endParaRPr/>
          </a:p>
          <a:p>
            <a:pPr indent="-317500" lvl="0" marL="457200" rtl="0" algn="l">
              <a:spcBef>
                <a:spcPts val="80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Proposed Date: March 12, 2026 11:30AM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•"/>
            </a:pPr>
            <a:r>
              <a:rPr lang="en"/>
              <a:t>Location: Qorvo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ustom 10">
      <a:dk1>
        <a:srgbClr val="000000"/>
      </a:dk1>
      <a:lt1>
        <a:srgbClr val="FFFFFF"/>
      </a:lt1>
      <a:dk2>
        <a:srgbClr val="2A502B"/>
      </a:dk2>
      <a:lt2>
        <a:srgbClr val="FFFFFF"/>
      </a:lt2>
      <a:accent1>
        <a:srgbClr val="F2E372"/>
      </a:accent1>
      <a:accent2>
        <a:srgbClr val="2A502B"/>
      </a:accent2>
      <a:accent3>
        <a:srgbClr val="E7BC29"/>
      </a:accent3>
      <a:accent4>
        <a:srgbClr val="1F3C20"/>
      </a:accent4>
      <a:accent5>
        <a:srgbClr val="0070C0"/>
      </a:accent5>
      <a:accent6>
        <a:srgbClr val="2A502B"/>
      </a:accent6>
      <a:hlink>
        <a:srgbClr val="0070C0"/>
      </a:hlink>
      <a:folHlink>
        <a:srgbClr val="344D6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