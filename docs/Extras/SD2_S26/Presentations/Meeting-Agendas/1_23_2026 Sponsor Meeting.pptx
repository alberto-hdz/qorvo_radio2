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9" r:id="rId4"/>
    <p:sldMasterId id="214748367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849563303_2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g3b849563303_2_8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84956330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b84956330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bb51f2ef2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bb51f2ef2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b51f2ef2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b51f2ef2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b572705a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bb572705a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bb572705a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bb572705a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bb572705a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bb572705a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bb60fb68d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bb60fb68d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1362693" y="273844"/>
            <a:ext cx="7152657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1362693" y="1369219"/>
            <a:ext cx="7152656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9" name="Google Shape;69;p15"/>
          <p:cNvPicPr preferRelativeResize="0"/>
          <p:nvPr/>
        </p:nvPicPr>
        <p:blipFill rotWithShape="1">
          <a:blip r:embed="rId2">
            <a:alphaModFix/>
          </a:blip>
          <a:srcRect b="0" l="0" r="85401" t="0"/>
          <a:stretch/>
        </p:blipFill>
        <p:spPr>
          <a:xfrm>
            <a:off x="4667" y="0"/>
            <a:ext cx="133445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42874" y="4330223"/>
            <a:ext cx="3287553" cy="914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062436" y="-1"/>
            <a:ext cx="9063436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7105" y="4601905"/>
            <a:ext cx="4275191" cy="57612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>
            <p:ph idx="1" type="subTitle"/>
          </p:nvPr>
        </p:nvSpPr>
        <p:spPr>
          <a:xfrm>
            <a:off x="2378034" y="2701528"/>
            <a:ext cx="3268981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79" name="Google Shape;79;p16"/>
          <p:cNvSpPr txBox="1"/>
          <p:nvPr/>
        </p:nvSpPr>
        <p:spPr>
          <a:xfrm>
            <a:off x="2467100" y="1329928"/>
            <a:ext cx="3487932" cy="124182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b="1" i="0" lang="en" sz="3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1335974" y="1282304"/>
            <a:ext cx="7174613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1335973" y="3421856"/>
            <a:ext cx="718414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5" name="Google Shape;85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6" name="Google Shape;86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49" y="0"/>
            <a:ext cx="1335024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42874" y="0"/>
            <a:ext cx="3287553" cy="914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2027952" y="273844"/>
            <a:ext cx="6487398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1102918" y="1369219"/>
            <a:ext cx="3527714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1" name="Google Shape;91;p18"/>
          <p:cNvSpPr txBox="1"/>
          <p:nvPr>
            <p:ph idx="2" type="body"/>
          </p:nvPr>
        </p:nvSpPr>
        <p:spPr>
          <a:xfrm>
            <a:off x="4987637" y="1369219"/>
            <a:ext cx="3527713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2" name="Google Shape;92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5" name="Google Shape;95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 txBox="1"/>
          <p:nvPr>
            <p:ph type="title"/>
          </p:nvPr>
        </p:nvSpPr>
        <p:spPr>
          <a:xfrm>
            <a:off x="1379472" y="273844"/>
            <a:ext cx="7137069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9"/>
          <p:cNvSpPr txBox="1"/>
          <p:nvPr>
            <p:ph idx="1" type="body"/>
          </p:nvPr>
        </p:nvSpPr>
        <p:spPr>
          <a:xfrm>
            <a:off x="1157840" y="1260872"/>
            <a:ext cx="3500654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9" name="Google Shape;99;p19"/>
          <p:cNvSpPr txBox="1"/>
          <p:nvPr>
            <p:ph idx="2" type="body"/>
          </p:nvPr>
        </p:nvSpPr>
        <p:spPr>
          <a:xfrm>
            <a:off x="1157840" y="1878806"/>
            <a:ext cx="3500654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0" name="Google Shape;100;p19"/>
          <p:cNvSpPr txBox="1"/>
          <p:nvPr>
            <p:ph idx="3" type="body"/>
          </p:nvPr>
        </p:nvSpPr>
        <p:spPr>
          <a:xfrm>
            <a:off x="4998647" y="1260872"/>
            <a:ext cx="3517895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01" name="Google Shape;101;p19"/>
          <p:cNvSpPr txBox="1"/>
          <p:nvPr>
            <p:ph idx="4" type="body"/>
          </p:nvPr>
        </p:nvSpPr>
        <p:spPr>
          <a:xfrm>
            <a:off x="4998647" y="1878806"/>
            <a:ext cx="3517895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5" name="Google Shape;105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20071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type="title"/>
          </p:nvPr>
        </p:nvSpPr>
        <p:spPr>
          <a:xfrm>
            <a:off x="1335024" y="273844"/>
            <a:ext cx="7180326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4" name="Google Shape;11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/>
          <p:nvPr>
            <p:ph type="title"/>
          </p:nvPr>
        </p:nvSpPr>
        <p:spPr>
          <a:xfrm>
            <a:off x="1351267" y="34409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2"/>
          <p:cNvSpPr txBox="1"/>
          <p:nvPr>
            <p:ph idx="1" type="body"/>
          </p:nvPr>
        </p:nvSpPr>
        <p:spPr>
          <a:xfrm>
            <a:off x="4479966" y="740569"/>
            <a:ext cx="4036575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20" name="Google Shape;120;p22"/>
          <p:cNvSpPr txBox="1"/>
          <p:nvPr>
            <p:ph idx="2" type="body"/>
          </p:nvPr>
        </p:nvSpPr>
        <p:spPr>
          <a:xfrm>
            <a:off x="1351267" y="154424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21" name="Google Shape;121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4" name="Google Shape;12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/>
          <p:nvPr>
            <p:ph type="title"/>
          </p:nvPr>
        </p:nvSpPr>
        <p:spPr>
          <a:xfrm>
            <a:off x="121146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7" name="Google Shape;127;p23"/>
          <p:cNvSpPr/>
          <p:nvPr>
            <p:ph idx="2" type="pic"/>
          </p:nvPr>
        </p:nvSpPr>
        <p:spPr>
          <a:xfrm>
            <a:off x="4417621" y="740569"/>
            <a:ext cx="4098920" cy="3661172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3"/>
          <p:cNvSpPr txBox="1"/>
          <p:nvPr>
            <p:ph idx="1" type="body"/>
          </p:nvPr>
        </p:nvSpPr>
        <p:spPr>
          <a:xfrm>
            <a:off x="121146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29" name="Google Shape;129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1" name="Google Shape;131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352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1229096" y="273844"/>
            <a:ext cx="7286254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104405" y="1385888"/>
            <a:ext cx="7410945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ctrTitle"/>
          </p:nvPr>
        </p:nvSpPr>
        <p:spPr>
          <a:xfrm>
            <a:off x="1143000" y="841772"/>
            <a:ext cx="6858000" cy="2208667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lang="en"/>
              <a:t>QORVO_RADIO2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lang="en"/>
              <a:t>1/23/2026 Meeting</a:t>
            </a:r>
            <a:endParaRPr/>
          </a:p>
        </p:txBody>
      </p:sp>
      <p:pic>
        <p:nvPicPr>
          <p:cNvPr id="138" name="Google Shape;13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24900" y="4724400"/>
            <a:ext cx="3048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PCB Part Orders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Stretch Goals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Mesh Network Testing &amp; Implementation Plan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Design Review Dates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PCB Part Orders</a:t>
            </a:r>
            <a:endParaRPr/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PCB in Fab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 Expected delivery January 30th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Stencil ordered from </a:t>
            </a:r>
            <a:r>
              <a:rPr lang="en"/>
              <a:t>OSHPark</a:t>
            </a:r>
            <a:r>
              <a:rPr lang="en"/>
              <a:t> Stencil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Expected delivery January 26th - 30th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Stretch Goals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Researched</a:t>
            </a:r>
            <a:r>
              <a:rPr lang="en"/>
              <a:t> QORVO_RADIO projects issues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Identified main issue with LO and I/O Expander communication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Found 2 possible hardware solutions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Eliminate</a:t>
            </a:r>
            <a:r>
              <a:rPr lang="en"/>
              <a:t> I/O expander and utilize pMOD GPIO lines from FPGA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Find alternative IC solutions for LO and/or I/O Expander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Further testing can be completed on the software side to validate enable signals.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Looked over past </a:t>
            </a:r>
            <a:r>
              <a:rPr lang="en"/>
              <a:t>project components datasheets</a:t>
            </a:r>
            <a:r>
              <a:rPr lang="en"/>
              <a:t> to see what could be added to current project 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Mesh Network Testing &amp; Implementation Plan</a:t>
            </a:r>
            <a:endParaRPr/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Created a plan for </a:t>
            </a:r>
            <a:r>
              <a:rPr lang="en"/>
              <a:t>implementing</a:t>
            </a:r>
            <a:r>
              <a:rPr lang="en"/>
              <a:t> and testing the mesh network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Phases: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1: Basic Board-to-Board Communication (UART &amp; BLE)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2: Zigbee Mesh Network Testing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3: Thread Network Testing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4: Gateway Integration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5: Full System Integration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1: Progress: Basic Communication</a:t>
            </a:r>
            <a:endParaRPr/>
          </a:p>
        </p:txBody>
      </p:sp>
      <p:sp>
        <p:nvSpPr>
          <p:cNvPr id="168" name="Google Shape;168;p29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UART Communication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Verified connection between Boards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BLE Firmware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Developed firmware for BLE communication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Board 1 Configured as the sender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Board 2 Configured as the Scanner/Client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0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BLE Validation</a:t>
            </a:r>
            <a:endParaRPr/>
          </a:p>
        </p:txBody>
      </p:sp>
      <p:sp>
        <p:nvSpPr>
          <p:cNvPr id="174" name="Google Shape;174;p30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Upcoming</a:t>
            </a:r>
            <a:r>
              <a:rPr lang="en"/>
              <a:t> testing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Validate direct wireless communication without the gateway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Testing Procedures: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Verify Board 2 can discover and connect to Board 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Test GATT command for Motion Sensor and LED Control 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1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Review Dates</a:t>
            </a:r>
            <a:endParaRPr/>
          </a:p>
        </p:txBody>
      </p:sp>
      <p:sp>
        <p:nvSpPr>
          <p:cNvPr id="180" name="Google Shape;180;p31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/>
              <a:t>PSR (Prototype Status Review)</a:t>
            </a:r>
            <a:endParaRPr/>
          </a:p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February 20, 2026 9:00AM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Location: UNCC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/>
              <a:t>PRP (Prototype Review Presentation)</a:t>
            </a:r>
            <a:endParaRPr/>
          </a:p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Proposed Date: March 12, 2026 11:30AM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Location: Qorvo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2A502B"/>
      </a:dk2>
      <a:lt2>
        <a:srgbClr val="FFFFFF"/>
      </a:lt2>
      <a:accent1>
        <a:srgbClr val="F2E372"/>
      </a:accent1>
      <a:accent2>
        <a:srgbClr val="2A502B"/>
      </a:accent2>
      <a:accent3>
        <a:srgbClr val="E7BC29"/>
      </a:accent3>
      <a:accent4>
        <a:srgbClr val="1F3C20"/>
      </a:accent4>
      <a:accent5>
        <a:srgbClr val="0070C0"/>
      </a:accent5>
      <a:accent6>
        <a:srgbClr val="2A502B"/>
      </a:accent6>
      <a:hlink>
        <a:srgbClr val="0070C0"/>
      </a:hlink>
      <a:folHlink>
        <a:srgbClr val="344D6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