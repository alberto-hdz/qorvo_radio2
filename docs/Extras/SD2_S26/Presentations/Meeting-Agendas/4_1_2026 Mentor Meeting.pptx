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9" r:id="rId4"/>
    <p:sldMasterId id="214748367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86b67325ac_2_8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86b67325ac_2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d3d8cd0db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d3d8cd0db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d3db05f4a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d3db05f4a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3d1dd6a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d3d1dd6a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d3d4e3d34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d3d4e3d34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3d311219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d3d311219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3dae4f22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d3dae4f22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9" name="Google Shape;69;p15"/>
          <p:cNvPicPr preferRelativeResize="0"/>
          <p:nvPr/>
        </p:nvPicPr>
        <p:blipFill rotWithShape="1">
          <a:blip r:embed="rId2">
            <a:alphaModFix/>
          </a:blip>
          <a:srcRect b="0" l="0" r="85401" t="0"/>
          <a:stretch/>
        </p:blipFill>
        <p:spPr>
          <a:xfrm>
            <a:off x="4667" y="0"/>
            <a:ext cx="133445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42873" y="4330223"/>
            <a:ext cx="3287554" cy="9144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062436" y="-1"/>
            <a:ext cx="9063435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7105" y="4601905"/>
            <a:ext cx="4275192" cy="576122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>
            <p:ph idx="1" type="subTitle"/>
          </p:nvPr>
        </p:nvSpPr>
        <p:spPr>
          <a:xfrm>
            <a:off x="2378034" y="2701529"/>
            <a:ext cx="32691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79" name="Google Shape;79;p16"/>
          <p:cNvSpPr txBox="1"/>
          <p:nvPr/>
        </p:nvSpPr>
        <p:spPr>
          <a:xfrm>
            <a:off x="2467099" y="1329928"/>
            <a:ext cx="34878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</a:pPr>
            <a:r>
              <a:rPr b="1" i="0" lang="en" sz="3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Click to edit Master subtitle style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1335974" y="1282303"/>
            <a:ext cx="71745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1335973" y="3421856"/>
            <a:ext cx="7184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5" name="Google Shape;85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6" name="Google Shape;86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49" y="0"/>
            <a:ext cx="1335024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42873" y="0"/>
            <a:ext cx="3287554" cy="914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2027952" y="273844"/>
            <a:ext cx="64875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8"/>
          <p:cNvSpPr txBox="1"/>
          <p:nvPr>
            <p:ph idx="1" type="body"/>
          </p:nvPr>
        </p:nvSpPr>
        <p:spPr>
          <a:xfrm>
            <a:off x="1102918" y="1369219"/>
            <a:ext cx="3527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1" name="Google Shape;91;p18"/>
          <p:cNvSpPr txBox="1"/>
          <p:nvPr>
            <p:ph idx="2" type="body"/>
          </p:nvPr>
        </p:nvSpPr>
        <p:spPr>
          <a:xfrm>
            <a:off x="4987636" y="1369219"/>
            <a:ext cx="3527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2" name="Google Shape;92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5" name="Google Shape;95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 txBox="1"/>
          <p:nvPr>
            <p:ph type="title"/>
          </p:nvPr>
        </p:nvSpPr>
        <p:spPr>
          <a:xfrm>
            <a:off x="1379472" y="273844"/>
            <a:ext cx="71370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9"/>
          <p:cNvSpPr txBox="1"/>
          <p:nvPr>
            <p:ph idx="1" type="body"/>
          </p:nvPr>
        </p:nvSpPr>
        <p:spPr>
          <a:xfrm>
            <a:off x="1157840" y="1260872"/>
            <a:ext cx="35007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9" name="Google Shape;99;p19"/>
          <p:cNvSpPr txBox="1"/>
          <p:nvPr>
            <p:ph idx="2" type="body"/>
          </p:nvPr>
        </p:nvSpPr>
        <p:spPr>
          <a:xfrm>
            <a:off x="1157840" y="1878806"/>
            <a:ext cx="35007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0" name="Google Shape;100;p19"/>
          <p:cNvSpPr txBox="1"/>
          <p:nvPr>
            <p:ph idx="3" type="body"/>
          </p:nvPr>
        </p:nvSpPr>
        <p:spPr>
          <a:xfrm>
            <a:off x="4998647" y="1260872"/>
            <a:ext cx="35178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01" name="Google Shape;101;p19"/>
          <p:cNvSpPr txBox="1"/>
          <p:nvPr>
            <p:ph idx="4" type="body"/>
          </p:nvPr>
        </p:nvSpPr>
        <p:spPr>
          <a:xfrm>
            <a:off x="4998647" y="1878806"/>
            <a:ext cx="35178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5" name="Google Shape;105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20071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>
            <p:ph type="title"/>
          </p:nvPr>
        </p:nvSpPr>
        <p:spPr>
          <a:xfrm>
            <a:off x="1335024" y="273844"/>
            <a:ext cx="7180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2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4" name="Google Shape;114;p2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2"/>
          <p:cNvSpPr txBox="1"/>
          <p:nvPr>
            <p:ph type="title"/>
          </p:nvPr>
        </p:nvSpPr>
        <p:spPr>
          <a:xfrm>
            <a:off x="1351267" y="34409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2"/>
          <p:cNvSpPr txBox="1"/>
          <p:nvPr>
            <p:ph idx="1" type="body"/>
          </p:nvPr>
        </p:nvSpPr>
        <p:spPr>
          <a:xfrm>
            <a:off x="4479966" y="740569"/>
            <a:ext cx="40365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20" name="Google Shape;120;p22"/>
          <p:cNvSpPr txBox="1"/>
          <p:nvPr>
            <p:ph idx="2" type="body"/>
          </p:nvPr>
        </p:nvSpPr>
        <p:spPr>
          <a:xfrm>
            <a:off x="1351267" y="154424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21" name="Google Shape;121;p2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4" name="Google Shape;12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/>
          <p:nvPr>
            <p:ph type="title"/>
          </p:nvPr>
        </p:nvSpPr>
        <p:spPr>
          <a:xfrm>
            <a:off x="121146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7" name="Google Shape;127;p23"/>
          <p:cNvSpPr/>
          <p:nvPr>
            <p:ph idx="2" type="pic"/>
          </p:nvPr>
        </p:nvSpPr>
        <p:spPr>
          <a:xfrm>
            <a:off x="4417621" y="740569"/>
            <a:ext cx="4098900" cy="36612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3"/>
          <p:cNvSpPr txBox="1"/>
          <p:nvPr>
            <p:ph idx="1" type="body"/>
          </p:nvPr>
        </p:nvSpPr>
        <p:spPr>
          <a:xfrm>
            <a:off x="121146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29" name="Google Shape;129;p2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1" name="Google Shape;131;p2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352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1229096" y="273844"/>
            <a:ext cx="72864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104405" y="1385888"/>
            <a:ext cx="74109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ctrTitle"/>
          </p:nvPr>
        </p:nvSpPr>
        <p:spPr>
          <a:xfrm>
            <a:off x="1143000" y="1676397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QORVO_RADIO2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4/1/2026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Mentor Meeting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5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43" name="Google Shape;143;p25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Project Updates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Mechanical Work </a:t>
            </a:r>
            <a:r>
              <a:rPr lang="en" sz="1400"/>
              <a:t>(Ethan)</a:t>
            </a:r>
            <a:endParaRPr sz="1400"/>
          </a:p>
        </p:txBody>
      </p:sp>
      <p:sp>
        <p:nvSpPr>
          <p:cNvPr id="149" name="Google Shape;149;p26"/>
          <p:cNvSpPr txBox="1"/>
          <p:nvPr>
            <p:ph idx="1" type="body"/>
          </p:nvPr>
        </p:nvSpPr>
        <p:spPr>
          <a:xfrm>
            <a:off x="1362693" y="1314844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Cleaning up CAD models and drawings for enclosure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Video Preparation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Capcut Software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Meeting with Abdul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7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Computer Work</a:t>
            </a:r>
            <a:r>
              <a:rPr lang="en"/>
              <a:t> </a:t>
            </a:r>
            <a:r>
              <a:rPr lang="en" sz="1400"/>
              <a:t>(Alberto)</a:t>
            </a:r>
            <a:endParaRPr sz="1400"/>
          </a:p>
        </p:txBody>
      </p:sp>
      <p:sp>
        <p:nvSpPr>
          <p:cNvPr id="155" name="Google Shape;155;p27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Created Documentation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Gateway Setup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Application Verification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NodeRED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Markdown Files for Doorbell and Motion Sensor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F</a:t>
            </a:r>
            <a:r>
              <a:rPr lang="en"/>
              <a:t>ull integration of the Motion Sensor Application 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Computer Work </a:t>
            </a:r>
            <a:r>
              <a:rPr lang="en" sz="1400"/>
              <a:t>(Kenneth)</a:t>
            </a:r>
            <a:endParaRPr sz="1400"/>
          </a:p>
        </p:txBody>
      </p:sp>
      <p:sp>
        <p:nvSpPr>
          <p:cNvPr id="161" name="Google Shape;161;p28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Created Documentation for progress report: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QR Code Scan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UI Customization Interface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Finalized </a:t>
            </a:r>
            <a:r>
              <a:rPr lang="en"/>
              <a:t>development of Speaker UI</a:t>
            </a:r>
            <a:r>
              <a:rPr lang="en"/>
              <a:t>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Changes committed to Github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Updated Project Plan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Electrical Work</a:t>
            </a:r>
            <a:endParaRPr/>
          </a:p>
        </p:txBody>
      </p:sp>
      <p:sp>
        <p:nvSpPr>
          <p:cNvPr id="167" name="Google Shape;167;p29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 PCB, PCB stencil, and other components ordered (Delivery unknown).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Started documentation for operation manual.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Compiled</a:t>
            </a:r>
            <a:r>
              <a:rPr lang="en"/>
              <a:t> documentation for progress report.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0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Electrical Work</a:t>
            </a:r>
            <a:endParaRPr/>
          </a:p>
        </p:txBody>
      </p:sp>
      <p:sp>
        <p:nvSpPr>
          <p:cNvPr id="173" name="Google Shape;173;p30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Worked on documentation for progress </a:t>
            </a:r>
            <a:r>
              <a:rPr lang="en"/>
              <a:t>report</a:t>
            </a:r>
            <a:r>
              <a:rPr lang="en"/>
              <a:t>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Reformatted</a:t>
            </a:r>
            <a:r>
              <a:rPr lang="en"/>
              <a:t> documentation for PCBs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Will begin to look on KiCAD for to build a netlist to work off of once PCBs arrive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2A502B"/>
      </a:dk2>
      <a:lt2>
        <a:srgbClr val="FFFFFF"/>
      </a:lt2>
      <a:accent1>
        <a:srgbClr val="F2E372"/>
      </a:accent1>
      <a:accent2>
        <a:srgbClr val="2A502B"/>
      </a:accent2>
      <a:accent3>
        <a:srgbClr val="E7BC29"/>
      </a:accent3>
      <a:accent4>
        <a:srgbClr val="1F3C20"/>
      </a:accent4>
      <a:accent5>
        <a:srgbClr val="0070C0"/>
      </a:accent5>
      <a:accent6>
        <a:srgbClr val="2A502B"/>
      </a:accent6>
      <a:hlink>
        <a:srgbClr val="0070C0"/>
      </a:hlink>
      <a:folHlink>
        <a:srgbClr val="344D6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